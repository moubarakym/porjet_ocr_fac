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430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F2430"/>
                </a:solidFill>
                <a:latin typeface="Arial"/>
              </a:rPr>
              <a:t>Precision globale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Avant</c:v>
                </c:pt>
              </c:strCache>
            </c:strRef>
          </c:tx>
          <c:spPr>
            <a:solidFill>
              <a:srgbClr val="B23A3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F24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Precision globale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57.1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Apres</c:v>
                </c:pt>
              </c:strCache>
            </c:strRef>
          </c:tx>
          <c:spPr>
            <a:solidFill>
              <a:srgbClr val="1E8A5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F24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Precision globale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79.1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300" u="none">
                  <a:solidFill>
                    <a:srgbClr val="1F24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2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6350" cap="flat">
              <a:solidFill>
                <a:srgbClr val="E3E7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2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5B6272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Avant</c:v>
                </c:pt>
              </c:strCache>
            </c:strRef>
          </c:tx>
          <c:spPr>
            <a:solidFill>
              <a:srgbClr val="B23A3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4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Propre</c:v>
                  </c:pt>
                  <c:pt idx="1">
                    <c:v>Rotation</c:v>
                  </c:pt>
                  <c:pt idx="2">
                    <c:v>Flou</c:v>
                  </c:pt>
                  <c:pt idx="3">
                    <c:v>Bruit fort</c:v>
                  </c:pt>
                  <c:pt idx="4">
                    <c:v>Basse res.</c:v>
                  </c:pt>
                  <c:pt idx="5">
                    <c:v>Contraste-</c:v>
                  </c:pt>
                  <c:pt idx="6">
                    <c:v>Cumul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84.6</c:v>
                </c:pt>
                <c:pt idx="1">
                  <c:v>23.1</c:v>
                </c:pt>
                <c:pt idx="2">
                  <c:v>84.6</c:v>
                </c:pt>
                <c:pt idx="3">
                  <c:v>0</c:v>
                </c:pt>
                <c:pt idx="4">
                  <c:v>84.6</c:v>
                </c:pt>
                <c:pt idx="5">
                  <c:v>84.6</c:v>
                </c:pt>
                <c:pt idx="6">
                  <c:v>38.5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Apres</c:v>
                </c:pt>
              </c:strCache>
            </c:strRef>
          </c:tx>
          <c:spPr>
            <a:solidFill>
              <a:srgbClr val="1E8A5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4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Propre</c:v>
                  </c:pt>
                  <c:pt idx="1">
                    <c:v>Rotation</c:v>
                  </c:pt>
                  <c:pt idx="2">
                    <c:v>Flou</c:v>
                  </c:pt>
                  <c:pt idx="3">
                    <c:v>Bruit fort</c:v>
                  </c:pt>
                  <c:pt idx="4">
                    <c:v>Basse res.</c:v>
                  </c:pt>
                  <c:pt idx="5">
                    <c:v>Contraste-</c:v>
                  </c:pt>
                  <c:pt idx="6">
                    <c:v>Cumul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84.6</c:v>
                </c:pt>
                <c:pt idx="1">
                  <c:v>69.2</c:v>
                </c:pt>
                <c:pt idx="2">
                  <c:v>84.6</c:v>
                </c:pt>
                <c:pt idx="3">
                  <c:v>84.6</c:v>
                </c:pt>
                <c:pt idx="4">
                  <c:v>76.9</c:v>
                </c:pt>
                <c:pt idx="5">
                  <c:v>84.6</c:v>
                </c:pt>
                <c:pt idx="6">
                  <c:v>69.2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F24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2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3E7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2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5B6272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389120"/>
            <a:ext cx="4572000" cy="45720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77240"/>
            <a:ext cx="822960" cy="8229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930" y="991210"/>
            <a:ext cx="395021" cy="3950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148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1 INFORMATIQUE — BIG DATA ET FOUILLE DE DONNEES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2560320"/>
            <a:ext cx="10241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Verification automatique de documents d'identite par OCR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822960" y="41605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Extraction, comparaison et fiabilisation d'un pipeline de reconnaissance optique de caracteres — module DNF2ED12, Universite Paris 8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22960" y="5989320"/>
            <a:ext cx="10515600" cy="18288"/>
          </a:xfrm>
          <a:prstGeom prst="rect">
            <a:avLst/>
          </a:prstGeom>
          <a:solidFill>
            <a:srgbClr val="141B4D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6126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Soutenance de projet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Sommaire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600200"/>
            <a:ext cx="914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920240" y="1600200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Contexte et problematique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2258568"/>
            <a:ext cx="9966960" cy="10973"/>
          </a:xfrm>
          <a:prstGeom prst="rect">
            <a:avLst/>
          </a:prstGeom>
          <a:solidFill>
            <a:srgbClr val="E3E7F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313432"/>
            <a:ext cx="914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920240" y="2313432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Etat de l'art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2971800"/>
            <a:ext cx="9966960" cy="10973"/>
          </a:xfrm>
          <a:prstGeom prst="rect">
            <a:avLst/>
          </a:prstGeom>
          <a:solidFill>
            <a:srgbClr val="E3E7F0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026664"/>
            <a:ext cx="914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920240" y="3026664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et demarche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22960" y="3685032"/>
            <a:ext cx="9966960" cy="10973"/>
          </a:xfrm>
          <a:prstGeom prst="rect">
            <a:avLst/>
          </a:prstGeom>
          <a:solidFill>
            <a:srgbClr val="E3E7F0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739896"/>
            <a:ext cx="914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920240" y="3739896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Resultats et bilan critique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22960" y="4398264"/>
            <a:ext cx="9966960" cy="10973"/>
          </a:xfrm>
          <a:prstGeom prst="rect">
            <a:avLst/>
          </a:prstGeom>
          <a:solidFill>
            <a:srgbClr val="E3E7F0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453128"/>
            <a:ext cx="914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920240" y="4453128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Extension : le titre de sejour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22960" y="5111496"/>
            <a:ext cx="9966960" cy="10973"/>
          </a:xfrm>
          <a:prstGeom prst="rect">
            <a:avLst/>
          </a:prstGeom>
          <a:solidFill>
            <a:srgbClr val="E3E7F0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5166360"/>
            <a:ext cx="914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920240" y="5166360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et perspectives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0" y="6473952"/>
            <a:ext cx="11731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CONTEXTE ET PROBLEMATIQUE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Contexte du projet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429000" cy="3200400"/>
          </a:xfrm>
          <a:prstGeom prst="roundRect">
            <a:avLst>
              <a:gd name="adj" fmla="val 257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11680" y="224028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89988" y="241858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1089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Cadre academique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914400" y="365760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DNF2ED12, Master 1 Informatique, parcours Big Data et Fouille de Donnees — Universite Paris 8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61688" y="1920240"/>
            <a:ext cx="3429000" cy="3200400"/>
          </a:xfrm>
          <a:prstGeom prst="roundRect">
            <a:avLst>
              <a:gd name="adj" fmla="val 257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733288" y="224028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596" y="241858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31089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Projet individuel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4636008" y="365760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Sujet donne par l'equipe enseignante, mene seul de l'expression des besoins jusqu'au bilan final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83296" y="1920240"/>
            <a:ext cx="3429000" cy="3200400"/>
          </a:xfrm>
          <a:prstGeom prst="roundRect">
            <a:avLst>
              <a:gd name="adj" fmla="val 257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454896" y="224028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3204" y="241858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11896" y="31089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Demarche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8357616" y="365760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Besoins → specifications → realisation → tests → bilan, comme un projet informatique en entreprise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40080" y="54406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: automatiser une verification aujourd'hui manuelle, lente et sujette a l'erreur.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0" y="6473952"/>
            <a:ext cx="11731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CONTEXTE ET PROBLEMATIQUE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probleme a resoudre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074920" cy="2468880"/>
          </a:xfrm>
          <a:prstGeom prst="roundRect">
            <a:avLst>
              <a:gd name="adj" fmla="val 3333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196596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6035" y="2156155"/>
            <a:ext cx="351130" cy="3511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2039112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Extraction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005840" y="2788920"/>
            <a:ext cx="4343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partir d'une photo, lire automatiquement nom, prenom, date de naissance, numero de document...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172200" y="1600200"/>
            <a:ext cx="5074920" cy="2468880"/>
          </a:xfrm>
          <a:prstGeom prst="roundRect">
            <a:avLst>
              <a:gd name="adj" fmla="val 3333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37960" y="196596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8155" y="2156155"/>
            <a:ext cx="351130" cy="35113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52360" y="2039112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Comparaison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6537960" y="2788920"/>
            <a:ext cx="4343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Confronter les valeurs extraites a une base de reference et signaler, champ par champ, toute incoherence.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640080" y="434340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Quatre types de documents supportes : Carte Nationale d'Identite, Passeport, Certificat de Scolarite, Titre de Sejour.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640080" y="489204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Difficultes : libelles variables selon le document, bruit introduit par l'OCR, qualite d'image tres inegale (angle, flou, eclairage).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640080" y="544068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probleme se decompose en 4 etapes : pretraitement, OCR, analyse (parsing), comparaison — chacune developpee et testee separement.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0" y="6473952"/>
            <a:ext cx="11731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ETAT DE L'ART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Solutions existantes pour l'OCR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212080" cy="3063240"/>
          </a:xfrm>
          <a:prstGeom prst="roundRect">
            <a:avLst>
              <a:gd name="adj" fmla="val 2687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8745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046" y="201716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9202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cloud payantes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2560320"/>
            <a:ext cx="4663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Vision, AWS Textract, Azure Document Intelligence — tres precises, mais payantes et impliquent d'envoyer des documents sensibles vers un serveur externe.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09360" y="1600200"/>
            <a:ext cx="5212080" cy="3063240"/>
          </a:xfrm>
          <a:prstGeom prst="roundRect">
            <a:avLst>
              <a:gd name="adj" fmla="val 268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83680" y="187452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6326" y="201716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19202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Moteurs OCR open source — retenu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583680" y="2560320"/>
            <a:ext cx="4663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Tesseract : gratuit, hors-ligne, plus de 100 langues, moteur LSTM depuis la v4. Choisi pour la gratuite et le traitement local de donnees d'identite sensibles.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640080" y="48920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Autres briques mobilisees : pretraitement OpenCV (redressement, seuillage, contraste, debruitage) — aucune combinaison unique n'etant meilleure partout, plusieurs variantes sont generees en parallele ; comparaison floue via la distance de Levenshtein (rapidfuzz).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0" y="6473952"/>
            <a:ext cx="11731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ARCHITECTURE ET DEMARCHE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en couches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couche a une responsabilite unique — testable independamment des autres.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10881360" cy="859536"/>
          </a:xfrm>
          <a:prstGeom prst="roundRect">
            <a:avLst>
              <a:gd name="adj" fmla="val 8511"/>
            </a:avLst>
          </a:prstGeom>
          <a:solidFill>
            <a:srgbClr val="F4F6FB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993392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934" y="2147926"/>
            <a:ext cx="285293" cy="28529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191109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Interface utilisateur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754880" y="1911096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(app.py) — chargement du document, visualisation, resultats</a:t>
            </a:r>
            <a:endParaRPr lang="en-US" sz="12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1109960" y="2112264"/>
            <a:ext cx="256032" cy="25603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40080" y="2898648"/>
            <a:ext cx="1088136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914400" y="301752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934" y="3172054"/>
            <a:ext cx="285293" cy="28529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91640" y="293522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Logique metier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4754880" y="2935224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ocr/extractor.py, comparator/compare.py — parsing des champs, comparaison floue</a:t>
            </a:r>
            <a:endParaRPr lang="en-US" sz="12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1109960" y="3136392"/>
            <a:ext cx="256032" cy="256032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640080" y="3922776"/>
            <a:ext cx="10881360" cy="859536"/>
          </a:xfrm>
          <a:prstGeom prst="roundRect">
            <a:avLst>
              <a:gd name="adj" fmla="val 8511"/>
            </a:avLst>
          </a:prstGeom>
          <a:solidFill>
            <a:srgbClr val="F4F6FB"/>
          </a:solidFill>
          <a:ln/>
        </p:spPr>
      </p:sp>
      <p:sp>
        <p:nvSpPr>
          <p:cNvPr id="18" name="Shape 12"/>
          <p:cNvSpPr/>
          <p:nvPr/>
        </p:nvSpPr>
        <p:spPr>
          <a:xfrm>
            <a:off x="914400" y="4041648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8934" y="4196182"/>
            <a:ext cx="285293" cy="285293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691640" y="395935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Traitement d'image</a:t>
            </a:r>
            <a:endParaRPr lang="en-US" sz="1500" dirty="0"/>
          </a:p>
        </p:txBody>
      </p:sp>
      <p:sp>
        <p:nvSpPr>
          <p:cNvPr id="21" name="Text 14"/>
          <p:cNvSpPr/>
          <p:nvPr/>
        </p:nvSpPr>
        <p:spPr>
          <a:xfrm>
            <a:off x="4754880" y="3959352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ocr/preprocess.py — redressement, contraste, debruitage, variantes multiples</a:t>
            </a:r>
            <a:endParaRPr lang="en-US" sz="125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11109960" y="4160520"/>
            <a:ext cx="256032" cy="256032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640080" y="4946904"/>
            <a:ext cx="1088136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24" name="Shape 16"/>
          <p:cNvSpPr/>
          <p:nvPr/>
        </p:nvSpPr>
        <p:spPr>
          <a:xfrm>
            <a:off x="914400" y="5065776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8934" y="5220310"/>
            <a:ext cx="285293" cy="285293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1691640" y="4983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Donnees</a:t>
            </a:r>
            <a:endParaRPr lang="en-US" sz="1500" dirty="0"/>
          </a:p>
        </p:txBody>
      </p:sp>
      <p:sp>
        <p:nvSpPr>
          <p:cNvPr id="27" name="Text 18"/>
          <p:cNvSpPr/>
          <p:nvPr/>
        </p:nvSpPr>
        <p:spPr>
          <a:xfrm>
            <a:off x="4754880" y="498348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 Excel de reference (pandas) — personnalisable par l'utilisateur</a:t>
            </a:r>
            <a:endParaRPr lang="en-US" sz="1250" dirty="0"/>
          </a:p>
        </p:txBody>
      </p:sp>
      <p:sp>
        <p:nvSpPr>
          <p:cNvPr id="28" name="Text 19"/>
          <p:cNvSpPr/>
          <p:nvPr/>
        </p:nvSpPr>
        <p:spPr>
          <a:xfrm>
            <a:off x="0" y="6473952"/>
            <a:ext cx="11731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ARCHITECTURE ET DEMARCHE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pipeline de traitement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Quatre etapes independantes, chacune testee separement.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2514600" cy="3108960"/>
          </a:xfrm>
          <a:prstGeom prst="roundRect">
            <a:avLst>
              <a:gd name="adj" fmla="val 3273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54480" y="228600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2788" y="2464308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31546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Pretraitement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22960" y="365760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Plusieurs variantes generees (seuillage adaptatif, Otsu, canaux de couleur isoles)</a:t>
            </a:r>
            <a:endParaRPr lang="en-US" sz="11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2112" y="3429000"/>
            <a:ext cx="219456" cy="219456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410712" y="1965960"/>
            <a:ext cx="2514600" cy="3108960"/>
          </a:xfrm>
          <a:prstGeom prst="roundRect">
            <a:avLst>
              <a:gd name="adj" fmla="val 3273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325112" y="228600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3420" y="2464308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547872" y="31546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OCR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3593592" y="365760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Tesseract sur chaque variante x chaque configuration ; la meilleure confiance est retenue</a:t>
            </a:r>
            <a:endParaRPr lang="en-US" sz="11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2744" y="3429000"/>
            <a:ext cx="219456" cy="219456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6181344" y="1965960"/>
            <a:ext cx="2514600" cy="3108960"/>
          </a:xfrm>
          <a:prstGeom prst="roundRect">
            <a:avLst>
              <a:gd name="adj" fmla="val 3273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7095744" y="228600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4052" y="2464308"/>
            <a:ext cx="329184" cy="32918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318504" y="31546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Analyse (parsing)</a:t>
            </a:r>
            <a:endParaRPr lang="en-US" sz="1450" dirty="0"/>
          </a:p>
        </p:txBody>
      </p:sp>
      <p:sp>
        <p:nvSpPr>
          <p:cNvPr id="21" name="Text 14"/>
          <p:cNvSpPr/>
          <p:nvPr/>
        </p:nvSpPr>
        <p:spPr>
          <a:xfrm>
            <a:off x="6364224" y="365760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Expressions regulieres + comparaison floue adaptees a chaque type de document</a:t>
            </a:r>
            <a:endParaRPr lang="en-US" sz="115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23376" y="3429000"/>
            <a:ext cx="219456" cy="219456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8951976" y="1965960"/>
            <a:ext cx="2514600" cy="3108960"/>
          </a:xfrm>
          <a:prstGeom prst="roundRect">
            <a:avLst>
              <a:gd name="adj" fmla="val 3273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4" name="Shape 16"/>
          <p:cNvSpPr/>
          <p:nvPr/>
        </p:nvSpPr>
        <p:spPr>
          <a:xfrm>
            <a:off x="9866376" y="228600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44684" y="2464308"/>
            <a:ext cx="329184" cy="329184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9089136" y="31546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Comparaison</a:t>
            </a:r>
            <a:endParaRPr lang="en-US" sz="1450" dirty="0"/>
          </a:p>
        </p:txBody>
      </p:sp>
      <p:sp>
        <p:nvSpPr>
          <p:cNvPr id="27" name="Text 18"/>
          <p:cNvSpPr/>
          <p:nvPr/>
        </p:nvSpPr>
        <p:spPr>
          <a:xfrm>
            <a:off x="9134856" y="365760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ponderee dans la base de reference, score de coherence par champ</a:t>
            </a:r>
            <a:endParaRPr lang="en-US" sz="1150" dirty="0"/>
          </a:p>
        </p:txBody>
      </p:sp>
      <p:sp>
        <p:nvSpPr>
          <p:cNvPr id="28" name="Text 19"/>
          <p:cNvSpPr/>
          <p:nvPr/>
        </p:nvSpPr>
        <p:spPr>
          <a:xfrm>
            <a:off x="640080" y="53492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techniques : Tesseract (open source, hors-ligne, donnees sensibles) + OpenCV + rapidfuzz (distance de Levenshtein).</a:t>
            </a:r>
            <a:endParaRPr lang="en-US" sz="1250" dirty="0"/>
          </a:p>
        </p:txBody>
      </p:sp>
      <p:sp>
        <p:nvSpPr>
          <p:cNvPr id="29" name="Text 20"/>
          <p:cNvSpPr/>
          <p:nvPr/>
        </p:nvSpPr>
        <p:spPr>
          <a:xfrm>
            <a:off x="0" y="6473952"/>
            <a:ext cx="11731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2926080"/>
            <a:ext cx="5029200" cy="50292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926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RESULTATS ET BILAN CRITIQUE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22960" y="2331720"/>
            <a:ext cx="1005840" cy="10058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478" y="2593238"/>
            <a:ext cx="482803" cy="482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94560" y="242316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Mesurer plutot que supposer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822960" y="3657600"/>
            <a:ext cx="10332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fois l'application fonctionnelle, la vraie question etait : quelle est sa precision reelle ? Un banc d'essai chiffre a ete construit pour le savoir — et a revele des defauts invisibles a la simple lecture du code.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22960" y="5120640"/>
            <a:ext cx="1997964" cy="502920"/>
          </a:xfrm>
          <a:prstGeom prst="roundRect">
            <a:avLst>
              <a:gd name="adj" fmla="val 49091"/>
            </a:avLst>
          </a:prstGeom>
          <a:solidFill>
            <a:srgbClr val="141B4D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5120640"/>
            <a:ext cx="19979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images de test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049524" y="5120640"/>
            <a:ext cx="2093976" cy="502920"/>
          </a:xfrm>
          <a:prstGeom prst="roundRect">
            <a:avLst>
              <a:gd name="adj" fmla="val 49091"/>
            </a:avLst>
          </a:prstGeom>
          <a:solidFill>
            <a:srgbClr val="141B4D"/>
          </a:solidFill>
          <a:ln/>
        </p:spPr>
      </p:sp>
      <p:sp>
        <p:nvSpPr>
          <p:cNvPr id="12" name="Text 9"/>
          <p:cNvSpPr/>
          <p:nvPr/>
        </p:nvSpPr>
        <p:spPr>
          <a:xfrm>
            <a:off x="3049524" y="5120640"/>
            <a:ext cx="2093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 champs verifies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372100" y="5120640"/>
            <a:ext cx="2574036" cy="502920"/>
          </a:xfrm>
          <a:prstGeom prst="roundRect">
            <a:avLst>
              <a:gd name="adj" fmla="val 49091"/>
            </a:avLst>
          </a:prstGeom>
          <a:solidFill>
            <a:srgbClr val="141B4D"/>
          </a:solidFill>
          <a:ln/>
        </p:spPr>
      </p:sp>
      <p:sp>
        <p:nvSpPr>
          <p:cNvPr id="14" name="Text 11"/>
          <p:cNvSpPr/>
          <p:nvPr/>
        </p:nvSpPr>
        <p:spPr>
          <a:xfrm>
            <a:off x="5372100" y="5120640"/>
            <a:ext cx="25740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degradations simulees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0" y="6473952"/>
            <a:ext cx="11731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RESULTATS ET BILAN CRITIQUE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banc d'essai de precision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images (3 documents x 7 degradations) — 91 champs a verifier, verite terrain connue a l'avance.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3931920" cy="4206240"/>
          </a:xfrm>
          <a:prstGeom prst="roundRect">
            <a:avLst>
              <a:gd name="adj" fmla="val 2093"/>
            </a:avLst>
          </a:prstGeom>
          <a:solidFill>
            <a:srgbClr val="F4F6F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116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profils de degradation testes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468880"/>
            <a:ext cx="3474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Propre (clean)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 8°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Flou gaussien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Bruit fort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Basse resolution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Contraste faible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 de degradations</a:t>
            </a:r>
            <a:endParaRPr lang="en-US" sz="125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892040" y="1828800"/>
          <a:ext cx="662940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4892040" y="5440680"/>
            <a:ext cx="6629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+22 points</a:t>
            </a:r>
            <a:pPr indent="0" marL="0">
              <a:buNone/>
            </a:pPr>
            <a:r>
              <a:rPr lang="en-US" sz="13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 precision apres correction des defauts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0" y="6473952"/>
            <a:ext cx="11731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RESULTATS ET BILAN CRITIQUE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 les corrections ont le plus d'impact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par type de degradation, avant / apres correction.</a:t>
            </a:r>
            <a:endParaRPr lang="en-US" sz="13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783080"/>
          <a:ext cx="1106424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0" y="6473952"/>
            <a:ext cx="11731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RESULTATS ET BILAN CRITIQUE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Trois defauts caches, decouverts par la mesure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26187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Invisibles a la simple lecture du code — reveles uniquement par le banc d'essai chiffre.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3520440" cy="4251960"/>
          </a:xfrm>
          <a:prstGeom prst="roundRect">
            <a:avLst>
              <a:gd name="adj" fmla="val 2338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05740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934" y="2211934"/>
            <a:ext cx="285293" cy="28529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27432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Blocage de Tesseract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914400" y="333756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B2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914400" y="3593592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une image tres bruitee, l'OCR pouvait tourner indefiniment.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14400" y="457200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914400" y="4828032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 de 20s par appel, avec repli propre en cas de depassement.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416552" y="1828800"/>
            <a:ext cx="3520440" cy="4251960"/>
          </a:xfrm>
          <a:prstGeom prst="roundRect">
            <a:avLst>
              <a:gd name="adj" fmla="val 2338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690872" y="205740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5406" y="2211934"/>
            <a:ext cx="285293" cy="285293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690872" y="27432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Inclinaison doublee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4690872" y="333756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B2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PROBLEME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4690872" y="3593592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rotation de correction s'appliquait dans le meme sens que l'inclinaison, au lieu du sens inverse.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4690872" y="457200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4690872" y="4828032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 appliquee avec l'angle inverse (-angle).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8193024" y="1828800"/>
            <a:ext cx="3520440" cy="4251960"/>
          </a:xfrm>
          <a:prstGeom prst="roundRect">
            <a:avLst>
              <a:gd name="adj" fmla="val 2338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8467344" y="205740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1878" y="2211934"/>
            <a:ext cx="285293" cy="285293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467344" y="27432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Convention OpenCV changee</a:t>
            </a:r>
            <a:endParaRPr lang="en-US" sz="1450" dirty="0"/>
          </a:p>
        </p:txBody>
      </p:sp>
      <p:sp>
        <p:nvSpPr>
          <p:cNvPr id="25" name="Text 20"/>
          <p:cNvSpPr/>
          <p:nvPr/>
        </p:nvSpPr>
        <p:spPr>
          <a:xfrm>
            <a:off x="8467344" y="333756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B2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PROBLEME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8467344" y="3593592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cv2.minAreaRect renvoie l'angle dans [0°,90°) depuis OpenCV 4.9, plus dans [-90°,0°) comme suppose.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8467344" y="457200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8467344" y="4828032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Normalisation de l'angle vers l'intervalle signe (-45°,45°].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0" y="6473952"/>
            <a:ext cx="11731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3657600"/>
            <a:ext cx="5486400" cy="54864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-2560320"/>
            <a:ext cx="5029200" cy="50292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926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EXTENSION : LE TITRE DE SEJOUR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22960" y="2331720"/>
            <a:ext cx="1005840" cy="10058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478" y="2593238"/>
            <a:ext cx="482803" cy="482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94560" y="2286000"/>
            <a:ext cx="9326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quatrieme type de document : le titre de sejour</a:t>
            </a:r>
            <a:endParaRPr lang="en-US" sz="2900" dirty="0"/>
          </a:p>
        </p:txBody>
      </p:sp>
      <p:sp>
        <p:nvSpPr>
          <p:cNvPr id="8" name="Text 5"/>
          <p:cNvSpPr/>
          <p:nvPr/>
        </p:nvSpPr>
        <p:spPr>
          <a:xfrm>
            <a:off x="822960" y="361188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parseur n'existait pour ce format. L'ecrire, puis le confronter a de vraies photographies (et non plus seulement des images synthetiques), a revele cinq nouveaux defauts — plus subtils : le systeme ne plantait pas, il se trompait silencieusement.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22960" y="5074920"/>
            <a:ext cx="2189988" cy="502920"/>
          </a:xfrm>
          <a:prstGeom prst="roundRect">
            <a:avLst>
              <a:gd name="adj" fmla="val 49091"/>
            </a:avLst>
          </a:prstGeom>
          <a:solidFill>
            <a:srgbClr val="141B4D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5074920"/>
            <a:ext cx="21899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4e type de document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241548" y="5074920"/>
            <a:ext cx="2093976" cy="502920"/>
          </a:xfrm>
          <a:prstGeom prst="roundRect">
            <a:avLst>
              <a:gd name="adj" fmla="val 49091"/>
            </a:avLst>
          </a:prstGeom>
          <a:solidFill>
            <a:srgbClr val="141B4D"/>
          </a:solidFill>
          <a:ln/>
        </p:spPr>
      </p:sp>
      <p:sp>
        <p:nvSpPr>
          <p:cNvPr id="12" name="Text 9"/>
          <p:cNvSpPr/>
          <p:nvPr/>
        </p:nvSpPr>
        <p:spPr>
          <a:xfrm>
            <a:off x="3241548" y="5074920"/>
            <a:ext cx="2093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nouveaux defauts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564124" y="5074920"/>
            <a:ext cx="2862072" cy="502920"/>
          </a:xfrm>
          <a:prstGeom prst="roundRect">
            <a:avLst>
              <a:gd name="adj" fmla="val 49091"/>
            </a:avLst>
          </a:prstGeom>
          <a:solidFill>
            <a:srgbClr val="141B4D"/>
          </a:solidFill>
          <a:ln/>
        </p:spPr>
      </p:sp>
      <p:sp>
        <p:nvSpPr>
          <p:cNvPr id="14" name="Text 11"/>
          <p:cNvSpPr/>
          <p:nvPr/>
        </p:nvSpPr>
        <p:spPr>
          <a:xfrm>
            <a:off x="5564124" y="5074920"/>
            <a:ext cx="2862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 sur documents reels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0" y="6473952"/>
            <a:ext cx="11731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EXTENSION : LE TITRE DE SEJOUR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Cinq defauts decouverts sur des documents reels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298448"/>
            <a:ext cx="5349240" cy="1024128"/>
          </a:xfrm>
          <a:prstGeom prst="roundRect">
            <a:avLst>
              <a:gd name="adj" fmla="val 6250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53619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7318" y="1678838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3716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Ordre du texte infidele a la mise en page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508760" y="1645920"/>
            <a:ext cx="42976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Reconstruction du texte a partir des positions reelles des mots (image_to_data), lignes triees par coordonnee verticale.</a:t>
            </a:r>
            <a:endParaRPr lang="en-US" sz="980" dirty="0"/>
          </a:p>
        </p:txBody>
      </p:sp>
      <p:sp>
        <p:nvSpPr>
          <p:cNvPr id="9" name="Shape 6"/>
          <p:cNvSpPr/>
          <p:nvPr/>
        </p:nvSpPr>
        <p:spPr>
          <a:xfrm>
            <a:off x="6446520" y="1298448"/>
            <a:ext cx="5349240" cy="1024128"/>
          </a:xfrm>
          <a:prstGeom prst="roundRect">
            <a:avLst>
              <a:gd name="adj" fmla="val 6250"/>
            </a:avLst>
          </a:prstGeom>
          <a:solidFill>
            <a:srgbClr val="F4F6FB"/>
          </a:solidFill>
          <a:ln/>
        </p:spPr>
      </p:sp>
      <p:sp>
        <p:nvSpPr>
          <p:cNvPr id="10" name="Shape 7"/>
          <p:cNvSpPr/>
          <p:nvPr/>
        </p:nvSpPr>
        <p:spPr>
          <a:xfrm>
            <a:off x="6611112" y="153619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3758" y="1678838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15200" y="13716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Fonds de securite (guillochage) illisibles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7315200" y="1645920"/>
            <a:ext cx="42976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Isolement de chaque canal de couleur (bleu/vert/rouge) en variantes de pretraitement supplementaires.</a:t>
            </a:r>
            <a:endParaRPr lang="en-US" sz="980" dirty="0"/>
          </a:p>
        </p:txBody>
      </p:sp>
      <p:sp>
        <p:nvSpPr>
          <p:cNvPr id="14" name="Shape 10"/>
          <p:cNvSpPr/>
          <p:nvPr/>
        </p:nvSpPr>
        <p:spPr>
          <a:xfrm>
            <a:off x="640080" y="2459736"/>
            <a:ext cx="5349240" cy="1024128"/>
          </a:xfrm>
          <a:prstGeom prst="roundRect">
            <a:avLst>
              <a:gd name="adj" fmla="val 6250"/>
            </a:avLst>
          </a:prstGeom>
          <a:solidFill>
            <a:srgbClr val="F4F6FB"/>
          </a:solidFill>
          <a:ln/>
        </p:spPr>
      </p:sp>
      <p:sp>
        <p:nvSpPr>
          <p:cNvPr id="15" name="Shape 11"/>
          <p:cNvSpPr/>
          <p:nvPr/>
        </p:nvSpPr>
        <p:spPr>
          <a:xfrm>
            <a:off x="804672" y="26974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318" y="2840126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253288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Collision entre deux champs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1508760" y="2807208"/>
            <a:ext cx="42976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deux lignes (libelle et valeur) sont desormais marquees indisponibles pour les champs suivants.</a:t>
            </a:r>
            <a:endParaRPr lang="en-US" sz="980" dirty="0"/>
          </a:p>
        </p:txBody>
      </p:sp>
      <p:sp>
        <p:nvSpPr>
          <p:cNvPr id="19" name="Shape 14"/>
          <p:cNvSpPr/>
          <p:nvPr/>
        </p:nvSpPr>
        <p:spPr>
          <a:xfrm>
            <a:off x="6446520" y="2459736"/>
            <a:ext cx="5349240" cy="1024128"/>
          </a:xfrm>
          <a:prstGeom prst="roundRect">
            <a:avLst>
              <a:gd name="adj" fmla="val 6250"/>
            </a:avLst>
          </a:prstGeom>
          <a:solidFill>
            <a:srgbClr val="F4F6FB"/>
          </a:solidFill>
          <a:ln/>
        </p:spPr>
      </p:sp>
      <p:sp>
        <p:nvSpPr>
          <p:cNvPr id="20" name="Shape 15"/>
          <p:cNvSpPr/>
          <p:nvPr/>
        </p:nvSpPr>
        <p:spPr>
          <a:xfrm>
            <a:off x="6611112" y="26974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3758" y="2840126"/>
            <a:ext cx="263347" cy="26334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0" y="253288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Format CNI 2021 non reconnu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7315200" y="2807208"/>
            <a:ext cx="42976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Expression reguliere dediee au triplet de valeurs groupees, tolerante au bruit OCR.</a:t>
            </a:r>
            <a:endParaRPr lang="en-US" sz="980" dirty="0"/>
          </a:p>
        </p:txBody>
      </p:sp>
      <p:sp>
        <p:nvSpPr>
          <p:cNvPr id="24" name="Shape 18"/>
          <p:cNvSpPr/>
          <p:nvPr/>
        </p:nvSpPr>
        <p:spPr>
          <a:xfrm>
            <a:off x="640080" y="3621024"/>
            <a:ext cx="5349240" cy="1024128"/>
          </a:xfrm>
          <a:prstGeom prst="roundRect">
            <a:avLst>
              <a:gd name="adj" fmla="val 6250"/>
            </a:avLst>
          </a:prstGeom>
          <a:solidFill>
            <a:srgbClr val="F4F6FB"/>
          </a:solidFill>
          <a:ln/>
        </p:spPr>
      </p:sp>
      <p:sp>
        <p:nvSpPr>
          <p:cNvPr id="25" name="Shape 19"/>
          <p:cNvSpPr/>
          <p:nvPr/>
        </p:nvSpPr>
        <p:spPr>
          <a:xfrm>
            <a:off x="804672" y="385876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7318" y="4001414"/>
            <a:ext cx="263347" cy="26334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508760" y="3694176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Lecture MRZ passeport melangee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1508760" y="3968496"/>
            <a:ext cx="42976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de la paire de lignes a l'interieur d'une seule lecture, la plus fiable retenue.</a:t>
            </a:r>
            <a:endParaRPr lang="en-US" sz="980" dirty="0"/>
          </a:p>
        </p:txBody>
      </p:sp>
      <p:sp>
        <p:nvSpPr>
          <p:cNvPr id="29" name="Text 22"/>
          <p:cNvSpPr/>
          <p:nvPr/>
        </p:nvSpPr>
        <p:spPr>
          <a:xfrm>
            <a:off x="640080" y="487375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correction s'accompagne d'un principe : privilegier « non detecte » a une valeur fausse.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0" y="6473952"/>
            <a:ext cx="11731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RESULTATS ET BILAN CRITIQUE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filet de securite : les tests automatises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tests pytest garantissent qu'aucune correction n'introduit de regression ailleurs.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2514600" cy="1691640"/>
          </a:xfrm>
          <a:prstGeom prst="roundRect">
            <a:avLst>
              <a:gd name="adj" fmla="val 4865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10312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77240" y="29260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automatises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10712" y="1920240"/>
            <a:ext cx="2514600" cy="1691640"/>
          </a:xfrm>
          <a:prstGeom prst="roundRect">
            <a:avLst>
              <a:gd name="adj" fmla="val 4865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10712" y="210312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547872" y="29260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reussite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81344" y="1920240"/>
            <a:ext cx="2514600" cy="1691640"/>
          </a:xfrm>
          <a:prstGeom prst="roundRect">
            <a:avLst>
              <a:gd name="adj" fmla="val 4865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81344" y="210312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318504" y="29260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de documents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51976" y="1920240"/>
            <a:ext cx="2514600" cy="1691640"/>
          </a:xfrm>
          <a:prstGeom prst="roundRect">
            <a:avLst>
              <a:gd name="adj" fmla="val 4865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951976" y="210312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+22 pts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9089136" y="29260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precision gagnes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3931920"/>
            <a:ext cx="10881360" cy="205740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114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Repartition de la couverture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" y="4526280"/>
            <a:ext cx="1024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(parsing CNI, passeport, certificat) — 14 tests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(normalisation, matching flou) — 16 tests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(gestion du timeout et des erreurs) — 2 tests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Pretraitement d'image (redressement, redimensionnement) — 6 tests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(pipeline complet) — 3 tests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0" y="6473952"/>
            <a:ext cx="11731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943600" cy="59436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4114800"/>
            <a:ext cx="5029200" cy="50292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926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CONCLUSION ET PERSPECTIVES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621792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et perspectives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5349240" cy="4434840"/>
          </a:xfrm>
          <a:prstGeom prst="roundRect">
            <a:avLst>
              <a:gd name="adj" fmla="val 1856"/>
            </a:avLst>
          </a:prstGeom>
          <a:solidFill>
            <a:srgbClr val="141B4D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1828800"/>
            <a:ext cx="548640" cy="548640"/>
          </a:xfrm>
          <a:prstGeom prst="ellipse">
            <a:avLst/>
          </a:prstGeom>
          <a:solidFill>
            <a:srgbClr val="1E8A5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046" y="1971446"/>
            <a:ext cx="263347" cy="26334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00200" y="18745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qui a ete accompli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2514600"/>
            <a:ext cx="4846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types de documents extraits et compares automatiquement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dockerise, teste par 41 tests automatises (100%)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+22 points de precision grace a une demarche de mesure objective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defauts identifies et corriges, documentes et expliques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217920" y="1600200"/>
            <a:ext cx="5349240" cy="4434840"/>
          </a:xfrm>
          <a:prstGeom prst="roundRect">
            <a:avLst>
              <a:gd name="adj" fmla="val 1856"/>
            </a:avLst>
          </a:prstGeom>
          <a:solidFill>
            <a:srgbClr val="141B4D"/>
          </a:solidFill>
          <a:ln/>
        </p:spPr>
      </p:sp>
      <p:sp>
        <p:nvSpPr>
          <p:cNvPr id="12" name="Shape 9"/>
          <p:cNvSpPr/>
          <p:nvPr/>
        </p:nvSpPr>
        <p:spPr>
          <a:xfrm>
            <a:off x="6492240" y="1828800"/>
            <a:ext cx="548640" cy="548640"/>
          </a:xfrm>
          <a:prstGeom prst="ellipse">
            <a:avLst/>
          </a:prstGeom>
          <a:solidFill>
            <a:srgbClr val="1E8A5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4886" y="1971446"/>
            <a:ext cx="263347" cy="26334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78040" y="18745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Perspectives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92240" y="2514600"/>
            <a:ext cx="4846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Etendre le banc d'essai chiffre et les tests au titre de sejour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une correction de perspective pour les photos anguleuses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Remplacer le fichier Excel par une vraie base de donnees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chiffrement et suppression des images pour un usage reel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0" y="6473952"/>
            <a:ext cx="11731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0" y="-2743200"/>
            <a:ext cx="6400800" cy="64008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3" name="Shape 1"/>
          <p:cNvSpPr/>
          <p:nvPr/>
        </p:nvSpPr>
        <p:spPr>
          <a:xfrm>
            <a:off x="5591556" y="1280160"/>
            <a:ext cx="1005840" cy="10058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3074" y="1541678"/>
            <a:ext cx="482803" cy="48280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2514600"/>
            <a:ext cx="12188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de votre attention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0" y="333756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et echanges avec le jury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22960" y="4389120"/>
            <a:ext cx="2286000" cy="502920"/>
          </a:xfrm>
          <a:prstGeom prst="roundRect">
            <a:avLst>
              <a:gd name="adj" fmla="val 49091"/>
            </a:avLst>
          </a:prstGeom>
          <a:solidFill>
            <a:srgbClr val="141B4D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43891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types de documents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337560" y="4389120"/>
            <a:ext cx="2093976" cy="502920"/>
          </a:xfrm>
          <a:prstGeom prst="roundRect">
            <a:avLst>
              <a:gd name="adj" fmla="val 49091"/>
            </a:avLst>
          </a:prstGeom>
          <a:solidFill>
            <a:srgbClr val="141B4D"/>
          </a:solidFill>
          <a:ln/>
        </p:spPr>
      </p:sp>
      <p:sp>
        <p:nvSpPr>
          <p:cNvPr id="10" name="Text 7"/>
          <p:cNvSpPr/>
          <p:nvPr/>
        </p:nvSpPr>
        <p:spPr>
          <a:xfrm>
            <a:off x="3337560" y="4389120"/>
            <a:ext cx="2093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defauts corriges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660136" y="4389120"/>
            <a:ext cx="1805940" cy="502920"/>
          </a:xfrm>
          <a:prstGeom prst="roundRect">
            <a:avLst>
              <a:gd name="adj" fmla="val 49091"/>
            </a:avLst>
          </a:prstGeom>
          <a:solidFill>
            <a:srgbClr val="141B4D"/>
          </a:solidFill>
          <a:ln/>
        </p:spPr>
      </p:sp>
      <p:sp>
        <p:nvSpPr>
          <p:cNvPr id="12" name="Text 9"/>
          <p:cNvSpPr/>
          <p:nvPr/>
        </p:nvSpPr>
        <p:spPr>
          <a:xfrm>
            <a:off x="5660136" y="4389120"/>
            <a:ext cx="18059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tests a 100%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694676" y="4389120"/>
            <a:ext cx="2286000" cy="502920"/>
          </a:xfrm>
          <a:prstGeom prst="roundRect">
            <a:avLst>
              <a:gd name="adj" fmla="val 49091"/>
            </a:avLst>
          </a:prstGeom>
          <a:solidFill>
            <a:srgbClr val="141B4D"/>
          </a:solidFill>
          <a:ln/>
        </p:spPr>
      </p:sp>
      <p:sp>
        <p:nvSpPr>
          <p:cNvPr id="14" name="Text 11"/>
          <p:cNvSpPr/>
          <p:nvPr/>
        </p:nvSpPr>
        <p:spPr>
          <a:xfrm>
            <a:off x="7694676" y="43891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+22 pts de precision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0" y="6473952"/>
            <a:ext cx="11731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Verification automatique de documents d'identite par OCR</dc:title>
  <dc:subject>PptxGenJS Presentation</dc:subject>
  <dc:creator>Projet DNF2ED12</dc:creator>
  <cp:lastModifiedBy>Projet DNF2ED12</cp:lastModifiedBy>
  <cp:revision>1</cp:revision>
  <dcterms:created xsi:type="dcterms:W3CDTF">2026-07-08T21:33:44Z</dcterms:created>
  <dcterms:modified xsi:type="dcterms:W3CDTF">2026-07-08T21:33:44Z</dcterms:modified>
</cp:coreProperties>
</file>